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62" r:id="rId4"/>
    <p:sldId id="258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672" y="4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66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6DC3E-6E6D-E2F0-5E25-BC1F61A95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4CA42-1CF8-FD5C-2DE4-3D381E8A6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66DE8-6442-FBB8-6C48-17A3A9DFE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754CE-8599-327E-9B88-CD1EFEFED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31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33097-CA62-38F6-9F88-B9D0B0261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4A56-315B-CBDA-C1F6-B0C4F5703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E7526-8AD3-18D1-9C1C-971F5DD04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2E576-65E8-537C-3322-0745476A2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13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4572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098280" y="0"/>
            <a:ext cx="45720" cy="13716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GDG AI HACK 2026 — SEE BEYOND TRACK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361646"/>
            <a:ext cx="6652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drone detection system for missing persons in hostile environments</a:t>
            </a:r>
            <a:endParaRPr lang="en-US" sz="160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D09387C-05ED-E67A-6C7C-1F149C3D4851}"/>
              </a:ext>
            </a:extLst>
          </p:cNvPr>
          <p:cNvSpPr txBox="1"/>
          <p:nvPr/>
        </p:nvSpPr>
        <p:spPr>
          <a:xfrm>
            <a:off x="274320" y="1442906"/>
            <a:ext cx="57548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dirty="0">
                <a:solidFill>
                  <a:schemeClr val="bg1"/>
                </a:solidFill>
                <a:latin typeface="Arial Black" panose="020B0A04020102020204" pitchFamily="34" charset="0"/>
              </a:rPr>
              <a:t>RESCUE</a:t>
            </a:r>
            <a:br>
              <a:rPr lang="it-IT" sz="9600" dirty="0">
                <a:latin typeface="Arial Black" panose="020B0A04020102020204" pitchFamily="34" charset="0"/>
              </a:rPr>
            </a:br>
            <a:r>
              <a:rPr lang="it-IT" sz="9600" dirty="0">
                <a:solidFill>
                  <a:srgbClr val="00D4D4"/>
                </a:solidFill>
                <a:latin typeface="Arial Black" panose="020B0A04020102020204" pitchFamily="34" charset="0"/>
              </a:rPr>
              <a:t>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AC3B3-B649-9896-C857-AE837E78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5284C6-257D-FDF1-EC71-8940E22A006D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A457E7-9F6D-5EAC-3989-01353B86A802}"/>
              </a:ext>
            </a:extLst>
          </p:cNvPr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C80BC0B7-E579-C0B0-ECBB-220E5364B7C5}"/>
              </a:ext>
            </a:extLst>
          </p:cNvPr>
          <p:cNvSpPr/>
          <p:nvPr/>
        </p:nvSpPr>
        <p:spPr>
          <a:xfrm>
            <a:off x="228600" y="576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PEOPLE IN COMPLEX ENVIRONMENTS IS HARD</a:t>
            </a:r>
            <a:endParaRPr lang="en-US" sz="9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6404D61-5714-2BF2-3BD7-6EC688EE0E76}"/>
              </a:ext>
            </a:extLst>
          </p:cNvPr>
          <p:cNvSpPr/>
          <p:nvPr/>
        </p:nvSpPr>
        <p:spPr>
          <a:xfrm>
            <a:off x="320040" y="1345217"/>
            <a:ext cx="2651760" cy="3200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EA818CD-0187-F84B-4BA3-F33522A7AC73}"/>
              </a:ext>
            </a:extLst>
          </p:cNvPr>
          <p:cNvSpPr/>
          <p:nvPr/>
        </p:nvSpPr>
        <p:spPr>
          <a:xfrm>
            <a:off x="320040" y="1482377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3AA508D-26E8-F8B2-49D0-8D5D2D8EC53D}"/>
              </a:ext>
            </a:extLst>
          </p:cNvPr>
          <p:cNvSpPr/>
          <p:nvPr/>
        </p:nvSpPr>
        <p:spPr>
          <a:xfrm>
            <a:off x="320040" y="2213897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Vast Areas</a:t>
            </a:r>
            <a:endParaRPr lang="en-US" sz="1600" dirty="0">
              <a:solidFill>
                <a:srgbClr val="00D4D4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5A265C8-74F6-0BC8-CFF0-7B44C8B69EBB}"/>
              </a:ext>
            </a:extLst>
          </p:cNvPr>
          <p:cNvSpPr/>
          <p:nvPr/>
        </p:nvSpPr>
        <p:spPr>
          <a:xfrm>
            <a:off x="457200" y="2716817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Mountains, forests, and disaster zones cover enormous terrain that's impossible to scan manually.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8DFFDC4-495E-CC2C-96B4-AE4D5D10BC6E}"/>
              </a:ext>
            </a:extLst>
          </p:cNvPr>
          <p:cNvSpPr/>
          <p:nvPr/>
        </p:nvSpPr>
        <p:spPr>
          <a:xfrm>
            <a:off x="3200400" y="1345217"/>
            <a:ext cx="2651760" cy="3200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2F668E8-6A09-F366-5A60-9F984B06D9AC}"/>
              </a:ext>
            </a:extLst>
          </p:cNvPr>
          <p:cNvSpPr/>
          <p:nvPr/>
        </p:nvSpPr>
        <p:spPr>
          <a:xfrm>
            <a:off x="3200400" y="1482377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930B8E8-5BC8-C6D6-AC1A-130F3ADDC39C}"/>
              </a:ext>
            </a:extLst>
          </p:cNvPr>
          <p:cNvSpPr/>
          <p:nvPr/>
        </p:nvSpPr>
        <p:spPr>
          <a:xfrm>
            <a:off x="3200400" y="2213897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Human Fatigue</a:t>
            </a:r>
            <a:endParaRPr lang="en-US" sz="1600" dirty="0">
              <a:solidFill>
                <a:srgbClr val="00D4D4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773C2278-B512-B20E-7978-87F5889842C6}"/>
              </a:ext>
            </a:extLst>
          </p:cNvPr>
          <p:cNvSpPr/>
          <p:nvPr/>
        </p:nvSpPr>
        <p:spPr>
          <a:xfrm>
            <a:off x="3337560" y="2716817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Operators watching hours of drone footage miss critical details — victims hidden behind rocks or vegetation.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97110768-E34B-5963-C9EA-311D7DC9BCA7}"/>
              </a:ext>
            </a:extLst>
          </p:cNvPr>
          <p:cNvSpPr/>
          <p:nvPr/>
        </p:nvSpPr>
        <p:spPr>
          <a:xfrm>
            <a:off x="6080760" y="1345217"/>
            <a:ext cx="2651760" cy="3200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A0BF4CF-6600-94A6-1200-9B2DB58F78BE}"/>
              </a:ext>
            </a:extLst>
          </p:cNvPr>
          <p:cNvSpPr/>
          <p:nvPr/>
        </p:nvSpPr>
        <p:spPr>
          <a:xfrm>
            <a:off x="6080760" y="1482377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📶</a:t>
            </a:r>
            <a:endParaRPr lang="en-US" sz="30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71BF7CA-633C-657F-7CCE-7382CB47965B}"/>
              </a:ext>
            </a:extLst>
          </p:cNvPr>
          <p:cNvSpPr/>
          <p:nvPr/>
        </p:nvSpPr>
        <p:spPr>
          <a:xfrm>
            <a:off x="6080760" y="2213897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Poor Connectivity</a:t>
            </a:r>
            <a:endParaRPr lang="en-US" sz="1600" dirty="0">
              <a:solidFill>
                <a:srgbClr val="00D4D4"/>
              </a:solidFill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5C3CF291-7EB2-C930-5AD4-774014E0C7FF}"/>
              </a:ext>
            </a:extLst>
          </p:cNvPr>
          <p:cNvSpPr/>
          <p:nvPr/>
        </p:nvSpPr>
        <p:spPr>
          <a:xfrm>
            <a:off x="6217920" y="2716817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Remote locations have limited bandwidth. Streaming raw video from drones is often impractical.</a:t>
            </a:r>
          </a:p>
        </p:txBody>
      </p:sp>
    </p:spTree>
    <p:extLst>
      <p:ext uri="{BB962C8B-B14F-4D97-AF65-F5344CB8AC3E}">
        <p14:creationId xmlns:p14="http://schemas.microsoft.com/office/powerpoint/2010/main" val="244784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2BB5E-9EAD-A54B-E1C3-52C4762F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5D9381-08F0-7313-1C2F-26EA42CAB910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6A9688-7B29-9167-9A97-AF557C90EEEA}"/>
              </a:ext>
            </a:extLst>
          </p:cNvPr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PIPELINE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3018DD-9B09-54BF-FB48-A04FC7C3EBA6}"/>
              </a:ext>
            </a:extLst>
          </p:cNvPr>
          <p:cNvSpPr/>
          <p:nvPr/>
        </p:nvSpPr>
        <p:spPr>
          <a:xfrm>
            <a:off x="228600" y="621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ON-DEVICE PROCESSING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972822-A087-64D3-52B9-632C4D9F2F8D}"/>
              </a:ext>
            </a:extLst>
          </p:cNvPr>
          <p:cNvSpPr/>
          <p:nvPr/>
        </p:nvSpPr>
        <p:spPr>
          <a:xfrm>
            <a:off x="201168" y="1005840"/>
            <a:ext cx="1609344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9EB79BD-E98C-DA99-F3BB-2DD103D03322}"/>
              </a:ext>
            </a:extLst>
          </p:cNvPr>
          <p:cNvSpPr/>
          <p:nvPr/>
        </p:nvSpPr>
        <p:spPr>
          <a:xfrm>
            <a:off x="201168" y="1005840"/>
            <a:ext cx="1609344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10229B-1401-9EB6-94F1-270C40BB3328}"/>
              </a:ext>
            </a:extLst>
          </p:cNvPr>
          <p:cNvSpPr/>
          <p:nvPr/>
        </p:nvSpPr>
        <p:spPr>
          <a:xfrm>
            <a:off x="274320" y="111556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E74C6DA1-DE75-CE21-C118-BF25E05341D9}"/>
              </a:ext>
            </a:extLst>
          </p:cNvPr>
          <p:cNvGrpSpPr/>
          <p:nvPr/>
        </p:nvGrpSpPr>
        <p:grpSpPr>
          <a:xfrm>
            <a:off x="246888" y="1572768"/>
            <a:ext cx="1517904" cy="2386584"/>
            <a:chOff x="246888" y="1572768"/>
            <a:chExt cx="1517904" cy="2386584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BC36847-2A06-F6B1-2460-FE5E80D25055}"/>
                </a:ext>
              </a:extLst>
            </p:cNvPr>
            <p:cNvSpPr/>
            <p:nvPr/>
          </p:nvSpPr>
          <p:spPr>
            <a:xfrm>
              <a:off x="246888" y="1572768"/>
              <a:ext cx="151790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dirty="0">
                  <a:solidFill>
                    <a:srgbClr val="000000"/>
                  </a:solidFill>
                </a:rPr>
                <a:t>🎯</a:t>
              </a:r>
              <a:endParaRPr lang="en-US" sz="3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5C2FFC6-6C8F-5836-0253-813FEFA26B53}"/>
                </a:ext>
              </a:extLst>
            </p:cNvPr>
            <p:cNvSpPr/>
            <p:nvPr/>
          </p:nvSpPr>
          <p:spPr>
            <a:xfrm>
              <a:off x="246888" y="2267712"/>
              <a:ext cx="151790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YOLO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DETECTION</a:t>
              </a:r>
              <a:endParaRPr lang="en-US" sz="11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0B560D06-BD77-E381-DD31-D6EC881AFD04}"/>
                </a:ext>
              </a:extLst>
            </p:cNvPr>
            <p:cNvSpPr/>
            <p:nvPr/>
          </p:nvSpPr>
          <p:spPr>
            <a:xfrm>
              <a:off x="274320" y="2999232"/>
              <a:ext cx="14721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Fine-tuned on COCO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 degradation augmentations</a:t>
              </a:r>
              <a:endParaRPr lang="en-US" sz="950" dirty="0"/>
            </a:p>
          </p:txBody>
        </p:sp>
      </p:grpSp>
      <p:sp>
        <p:nvSpPr>
          <p:cNvPr id="11" name="Shape 9">
            <a:extLst>
              <a:ext uri="{FF2B5EF4-FFF2-40B4-BE49-F238E27FC236}">
                <a16:creationId xmlns:a16="http://schemas.microsoft.com/office/drawing/2014/main" id="{A52F27F0-2821-362F-4101-99C5A753068B}"/>
              </a:ext>
            </a:extLst>
          </p:cNvPr>
          <p:cNvSpPr/>
          <p:nvPr/>
        </p:nvSpPr>
        <p:spPr>
          <a:xfrm>
            <a:off x="1810512" y="2587752"/>
            <a:ext cx="73152" cy="3657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76E1163-7CFF-228D-4E1E-01474DBDC9A4}"/>
              </a:ext>
            </a:extLst>
          </p:cNvPr>
          <p:cNvSpPr/>
          <p:nvPr/>
        </p:nvSpPr>
        <p:spPr>
          <a:xfrm>
            <a:off x="1883664" y="1005840"/>
            <a:ext cx="1609344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75C4C50-58E7-1C15-6B1E-FB8089CC5FBA}"/>
              </a:ext>
            </a:extLst>
          </p:cNvPr>
          <p:cNvSpPr/>
          <p:nvPr/>
        </p:nvSpPr>
        <p:spPr>
          <a:xfrm>
            <a:off x="1883664" y="1005840"/>
            <a:ext cx="1609344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9F4DCF-11BF-0C03-A2B3-7FCD6E2501C7}"/>
              </a:ext>
            </a:extLst>
          </p:cNvPr>
          <p:cNvSpPr/>
          <p:nvPr/>
        </p:nvSpPr>
        <p:spPr>
          <a:xfrm>
            <a:off x="1956816" y="111556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554DFD0-F8E1-2FE2-B8B1-E58B0E992774}"/>
              </a:ext>
            </a:extLst>
          </p:cNvPr>
          <p:cNvSpPr/>
          <p:nvPr/>
        </p:nvSpPr>
        <p:spPr>
          <a:xfrm>
            <a:off x="3493008" y="2587752"/>
            <a:ext cx="73152" cy="3657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8A1A23C-7ACE-6B09-ADBB-91555D989990}"/>
              </a:ext>
            </a:extLst>
          </p:cNvPr>
          <p:cNvSpPr/>
          <p:nvPr/>
        </p:nvSpPr>
        <p:spPr>
          <a:xfrm>
            <a:off x="3566160" y="1005840"/>
            <a:ext cx="1609344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A41A926-BF6C-B99D-1DCA-6D5216807C75}"/>
              </a:ext>
            </a:extLst>
          </p:cNvPr>
          <p:cNvSpPr/>
          <p:nvPr/>
        </p:nvSpPr>
        <p:spPr>
          <a:xfrm>
            <a:off x="3566160" y="1005840"/>
            <a:ext cx="1609344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F4883B1-19D8-4C8B-BA8E-34FC0616C39A}"/>
              </a:ext>
            </a:extLst>
          </p:cNvPr>
          <p:cNvSpPr/>
          <p:nvPr/>
        </p:nvSpPr>
        <p:spPr>
          <a:xfrm>
            <a:off x="3639312" y="111556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2908AD59-5094-CB45-46A3-8EF630D9AD93}"/>
              </a:ext>
            </a:extLst>
          </p:cNvPr>
          <p:cNvGrpSpPr/>
          <p:nvPr/>
        </p:nvGrpSpPr>
        <p:grpSpPr>
          <a:xfrm>
            <a:off x="1929384" y="1549908"/>
            <a:ext cx="1517904" cy="2386584"/>
            <a:chOff x="1922526" y="1549908"/>
            <a:chExt cx="1517904" cy="2386584"/>
          </a:xfrm>
        </p:grpSpPr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BAA67D2E-F4F4-BA6C-1CC1-22DF66ABA250}"/>
                </a:ext>
              </a:extLst>
            </p:cNvPr>
            <p:cNvSpPr/>
            <p:nvPr/>
          </p:nvSpPr>
          <p:spPr>
            <a:xfrm>
              <a:off x="1922526" y="1549908"/>
              <a:ext cx="151790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dirty="0">
                  <a:solidFill>
                    <a:srgbClr val="000000"/>
                  </a:solidFill>
                </a:rPr>
                <a:t>📏</a:t>
              </a:r>
              <a:endParaRPr lang="en-US" sz="34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6FE15DEF-A76E-4807-CEB9-4E5948A54342}"/>
                </a:ext>
              </a:extLst>
            </p:cNvPr>
            <p:cNvSpPr/>
            <p:nvPr/>
          </p:nvSpPr>
          <p:spPr>
            <a:xfrm>
              <a:off x="1922526" y="2244852"/>
              <a:ext cx="151790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DEPTH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ESTIMATION</a:t>
              </a:r>
              <a:endParaRPr lang="en-US" sz="11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7D09643A-DCF0-8594-21D0-1C7C7A306C14}"/>
                </a:ext>
              </a:extLst>
            </p:cNvPr>
            <p:cNvSpPr/>
            <p:nvPr/>
          </p:nvSpPr>
          <p:spPr>
            <a:xfrm>
              <a:off x="1949958" y="2976372"/>
              <a:ext cx="14721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OAK stereo depth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GPS coords via camera pose</a:t>
              </a:r>
              <a:endParaRPr lang="en-US" sz="950" dirty="0"/>
            </a:p>
          </p:txBody>
        </p:sp>
      </p:grpSp>
      <p:sp>
        <p:nvSpPr>
          <p:cNvPr id="25" name="Shape 23">
            <a:extLst>
              <a:ext uri="{FF2B5EF4-FFF2-40B4-BE49-F238E27FC236}">
                <a16:creationId xmlns:a16="http://schemas.microsoft.com/office/drawing/2014/main" id="{4B805642-E18C-47DB-F727-546DC8A2182C}"/>
              </a:ext>
            </a:extLst>
          </p:cNvPr>
          <p:cNvSpPr/>
          <p:nvPr/>
        </p:nvSpPr>
        <p:spPr>
          <a:xfrm>
            <a:off x="5175504" y="2587752"/>
            <a:ext cx="73152" cy="3657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C403AD9-01B9-D63F-83F7-97F7C9DE14D5}"/>
              </a:ext>
            </a:extLst>
          </p:cNvPr>
          <p:cNvSpPr/>
          <p:nvPr/>
        </p:nvSpPr>
        <p:spPr>
          <a:xfrm>
            <a:off x="5248656" y="1005840"/>
            <a:ext cx="1609344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A61FB94-F2C1-5567-4952-73D91C11EEA9}"/>
              </a:ext>
            </a:extLst>
          </p:cNvPr>
          <p:cNvSpPr/>
          <p:nvPr/>
        </p:nvSpPr>
        <p:spPr>
          <a:xfrm>
            <a:off x="5248656" y="1005840"/>
            <a:ext cx="1609344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F292855-5FF0-9330-EBFB-009BA72CA4C5}"/>
              </a:ext>
            </a:extLst>
          </p:cNvPr>
          <p:cNvSpPr/>
          <p:nvPr/>
        </p:nvSpPr>
        <p:spPr>
          <a:xfrm>
            <a:off x="5321808" y="111556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16484948-37B3-790C-404B-16D27F317F2B}"/>
              </a:ext>
            </a:extLst>
          </p:cNvPr>
          <p:cNvGrpSpPr/>
          <p:nvPr/>
        </p:nvGrpSpPr>
        <p:grpSpPr>
          <a:xfrm>
            <a:off x="3611880" y="1549908"/>
            <a:ext cx="1517904" cy="2386584"/>
            <a:chOff x="3629755" y="1549908"/>
            <a:chExt cx="1517904" cy="2386584"/>
          </a:xfrm>
        </p:grpSpPr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E0B3A7C1-74FC-B982-5134-4CC5FE9AD515}"/>
                </a:ext>
              </a:extLst>
            </p:cNvPr>
            <p:cNvSpPr/>
            <p:nvPr/>
          </p:nvSpPr>
          <p:spPr>
            <a:xfrm>
              <a:off x="3629755" y="1549908"/>
              <a:ext cx="151790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dirty="0">
                  <a:solidFill>
                    <a:srgbClr val="000000"/>
                  </a:solidFill>
                </a:rPr>
                <a:t>🔍</a:t>
              </a:r>
              <a:endParaRPr lang="en-US" sz="3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61558971-E170-2B38-E72E-3F4B1CB47045}"/>
                </a:ext>
              </a:extLst>
            </p:cNvPr>
            <p:cNvSpPr/>
            <p:nvPr/>
          </p:nvSpPr>
          <p:spPr>
            <a:xfrm>
              <a:off x="3629755" y="2244852"/>
              <a:ext cx="151790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PERSON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TRACKING</a:t>
              </a:r>
              <a:endParaRPr lang="en-US" sz="11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0286123C-8B25-17F9-DAB8-E999265F6318}"/>
                </a:ext>
              </a:extLst>
            </p:cNvPr>
            <p:cNvSpPr/>
            <p:nvPr/>
          </p:nvSpPr>
          <p:spPr>
            <a:xfrm>
              <a:off x="3657187" y="2976372"/>
              <a:ext cx="14721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Stationary &gt;5s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flagged as still</a:t>
              </a:r>
              <a:endParaRPr lang="en-US" sz="950" dirty="0"/>
            </a:p>
          </p:txBody>
        </p:sp>
      </p:grpSp>
      <p:sp>
        <p:nvSpPr>
          <p:cNvPr id="32" name="Shape 30">
            <a:extLst>
              <a:ext uri="{FF2B5EF4-FFF2-40B4-BE49-F238E27FC236}">
                <a16:creationId xmlns:a16="http://schemas.microsoft.com/office/drawing/2014/main" id="{714F8297-7A95-9897-77E5-50726FD415C7}"/>
              </a:ext>
            </a:extLst>
          </p:cNvPr>
          <p:cNvSpPr/>
          <p:nvPr/>
        </p:nvSpPr>
        <p:spPr>
          <a:xfrm>
            <a:off x="6858000" y="2587752"/>
            <a:ext cx="73152" cy="3657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A83CBCC-A75F-DBE1-5B22-99F939E18113}"/>
              </a:ext>
            </a:extLst>
          </p:cNvPr>
          <p:cNvSpPr/>
          <p:nvPr/>
        </p:nvSpPr>
        <p:spPr>
          <a:xfrm>
            <a:off x="6931152" y="1005840"/>
            <a:ext cx="1609344" cy="3200400"/>
          </a:xfrm>
          <a:prstGeom prst="rect">
            <a:avLst/>
          </a:prstGeom>
          <a:solidFill>
            <a:srgbClr val="111D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AF443B8-647C-0DB2-0B40-5657F19F8133}"/>
              </a:ext>
            </a:extLst>
          </p:cNvPr>
          <p:cNvSpPr/>
          <p:nvPr/>
        </p:nvSpPr>
        <p:spPr>
          <a:xfrm>
            <a:off x="6931152" y="1005840"/>
            <a:ext cx="1609344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BB95312-C503-4AF0-BAA2-2529E43E40EC}"/>
              </a:ext>
            </a:extLst>
          </p:cNvPr>
          <p:cNvSpPr/>
          <p:nvPr/>
        </p:nvSpPr>
        <p:spPr>
          <a:xfrm>
            <a:off x="7004304" y="111556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29497CE3-BD8C-B3A6-8551-A9A49F17AB35}"/>
              </a:ext>
            </a:extLst>
          </p:cNvPr>
          <p:cNvGrpSpPr/>
          <p:nvPr/>
        </p:nvGrpSpPr>
        <p:grpSpPr>
          <a:xfrm>
            <a:off x="6976872" y="1572768"/>
            <a:ext cx="1517904" cy="2386584"/>
            <a:chOff x="6976872" y="1572768"/>
            <a:chExt cx="1517904" cy="2386584"/>
          </a:xfrm>
        </p:grpSpPr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BE879535-82E6-1140-2190-27EE0C70973E}"/>
                </a:ext>
              </a:extLst>
            </p:cNvPr>
            <p:cNvSpPr/>
            <p:nvPr/>
          </p:nvSpPr>
          <p:spPr>
            <a:xfrm>
              <a:off x="6976872" y="1572768"/>
              <a:ext cx="151790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dirty="0">
                  <a:solidFill>
                    <a:srgbClr val="000000"/>
                  </a:solidFill>
                </a:rPr>
                <a:t>📡</a:t>
              </a:r>
              <a:endParaRPr lang="en-US" sz="34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6396D87C-EA4B-5689-C8BC-7B637FEF4DA9}"/>
                </a:ext>
              </a:extLst>
            </p:cNvPr>
            <p:cNvSpPr/>
            <p:nvPr/>
          </p:nvSpPr>
          <p:spPr>
            <a:xfrm>
              <a:off x="6976872" y="2267712"/>
              <a:ext cx="151790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DASHBOARD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ALERT</a:t>
              </a:r>
              <a:endParaRPr lang="en-US" sz="110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7BF3882E-ACF7-62FA-A67A-98FDC5E7B7F5}"/>
                </a:ext>
              </a:extLst>
            </p:cNvPr>
            <p:cNvSpPr/>
            <p:nvPr/>
          </p:nvSpPr>
          <p:spPr>
            <a:xfrm>
              <a:off x="7004304" y="2999232"/>
              <a:ext cx="14721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 only if confidence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 65%</a:t>
              </a:r>
              <a:endParaRPr lang="en-US" sz="950" dirty="0"/>
            </a:p>
          </p:txBody>
        </p:sp>
      </p:grpSp>
      <p:sp>
        <p:nvSpPr>
          <p:cNvPr id="39" name="Shape 37">
            <a:extLst>
              <a:ext uri="{FF2B5EF4-FFF2-40B4-BE49-F238E27FC236}">
                <a16:creationId xmlns:a16="http://schemas.microsoft.com/office/drawing/2014/main" id="{AE3D91D7-1959-9E14-A302-7A215DF6F5A5}"/>
              </a:ext>
            </a:extLst>
          </p:cNvPr>
          <p:cNvSpPr/>
          <p:nvPr/>
        </p:nvSpPr>
        <p:spPr>
          <a:xfrm>
            <a:off x="201168" y="4315968"/>
            <a:ext cx="8741664" cy="658368"/>
          </a:xfrm>
          <a:prstGeom prst="rect">
            <a:avLst/>
          </a:prstGeom>
          <a:solidFill>
            <a:srgbClr val="0D1F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C8C5D5A-BC9A-9003-C0C9-BF12640440E6}"/>
              </a:ext>
            </a:extLst>
          </p:cNvPr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FULLY ON-DEVICE INFERENCE  ·  LOW LATENCY  ·  NO CLOUD REQUIRED  ·  REAL-TIME STREAMING TO DASHBOARD</a:t>
            </a:r>
            <a:endParaRPr lang="en-US" sz="900" dirty="0"/>
          </a:p>
        </p:txBody>
      </p: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249C28AB-FF56-93AD-FE15-83A1089DF611}"/>
              </a:ext>
            </a:extLst>
          </p:cNvPr>
          <p:cNvGrpSpPr/>
          <p:nvPr/>
        </p:nvGrpSpPr>
        <p:grpSpPr>
          <a:xfrm>
            <a:off x="5294376" y="1572768"/>
            <a:ext cx="1517904" cy="2386584"/>
            <a:chOff x="-1572768" y="1572768"/>
            <a:chExt cx="1517904" cy="2386584"/>
          </a:xfrm>
        </p:grpSpPr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552421C7-2764-9CFB-E1A9-2BDE50717E5D}"/>
                </a:ext>
              </a:extLst>
            </p:cNvPr>
            <p:cNvSpPr/>
            <p:nvPr/>
          </p:nvSpPr>
          <p:spPr>
            <a:xfrm>
              <a:off x="-1572768" y="1572768"/>
              <a:ext cx="151790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dirty="0">
                  <a:solidFill>
                    <a:srgbClr val="000000"/>
                  </a:solidFill>
                </a:rPr>
                <a:t>📐</a:t>
              </a:r>
              <a:endParaRPr lang="en-US" sz="3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DB1EE149-15FF-6087-F29F-D02FC87DA932}"/>
                </a:ext>
              </a:extLst>
            </p:cNvPr>
            <p:cNvSpPr/>
            <p:nvPr/>
          </p:nvSpPr>
          <p:spPr>
            <a:xfrm>
              <a:off x="-1572768" y="2267712"/>
              <a:ext cx="151790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POSTURE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ANALYSIS</a:t>
              </a:r>
              <a:endParaRPr lang="en-US" sz="11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98EF92D7-9BAD-17E2-6B10-3EAE7CB5E733}"/>
                </a:ext>
              </a:extLst>
            </p:cNvPr>
            <p:cNvSpPr/>
            <p:nvPr/>
          </p:nvSpPr>
          <p:spPr>
            <a:xfrm>
              <a:off x="-1545336" y="2999232"/>
              <a:ext cx="147218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BBox aspect ratio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8899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Standing vs. fallen</a:t>
              </a:r>
              <a:endParaRPr lang="en-US"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191472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/  YOLO DETECTION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576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FINE-TUNED MODEL FOR DEGRADED ENVIRONMENTS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1168" y="896112"/>
            <a:ext cx="4114800" cy="4023360"/>
          </a:xfrm>
          <a:prstGeom prst="rect">
            <a:avLst/>
          </a:prstGeom>
          <a:solidFill>
            <a:srgbClr val="111D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47472" y="987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MODEL &amp; TRAINING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374904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 (OAK-optimized)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901952"/>
            <a:ext cx="374904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Dataset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450592"/>
            <a:ext cx="374904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999232"/>
            <a:ext cx="374904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On-device (OAK-4D)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3749040" cy="45720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Threshold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584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65% confidence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FINE-TUNE?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" y="4361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emergencies involve smoke, fog, partial occlusion and poor lighting — stock COCO won't cut 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896112"/>
            <a:ext cx="4462272" cy="4023360"/>
          </a:xfrm>
          <a:prstGeom prst="rect">
            <a:avLst/>
          </a:prstGeom>
          <a:solidFill>
            <a:srgbClr val="111D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61772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ALBUMENTATIONS PIPELINE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☀️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1353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RandomBrightnessContrast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74920" y="1563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over/under-exposure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17720" y="18105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🌫️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74920" y="18105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74920" y="20208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low-visibility conditions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17720" y="22677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7492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GaussianBlur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2478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blur, camera shake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17720" y="2724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74920" y="27249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CoarseDropout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74920" y="29352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by debris / vegetation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17720" y="31821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74920" y="31821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RandomShadow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74920" y="33924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lighting, partial shadows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17720" y="3639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⬛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74920" y="36393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ToGray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74920" y="3849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Thermal-like grayscale input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17720" y="40965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074920" y="40965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GaussNoise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74920" y="43068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 &amp; image artifacts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17720" y="4544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with randomized probabilities for diverse training conditions.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ON-DEVICE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576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POSTURE · DEPTH · TRACKING — ALL COMPUTED ON THE CAMERA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1168" y="896112"/>
            <a:ext cx="2834640" cy="4114800"/>
          </a:xfrm>
          <a:prstGeom prst="rect">
            <a:avLst/>
          </a:prstGeom>
          <a:solidFill>
            <a:srgbClr val="111D2E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896112"/>
            <a:ext cx="283464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92608" y="987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154680" y="896112"/>
            <a:ext cx="2834640" cy="4114800"/>
          </a:xfrm>
          <a:prstGeom prst="rect">
            <a:avLst/>
          </a:prstGeom>
          <a:solidFill>
            <a:srgbClr val="111D2E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154680" y="896112"/>
            <a:ext cx="283464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46120" y="987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46B629DE-894D-E504-DEBE-FD903477CC58}"/>
              </a:ext>
            </a:extLst>
          </p:cNvPr>
          <p:cNvGrpSpPr/>
          <p:nvPr/>
        </p:nvGrpSpPr>
        <p:grpSpPr>
          <a:xfrm>
            <a:off x="234533" y="1408176"/>
            <a:ext cx="2743200" cy="3209544"/>
            <a:chOff x="3200400" y="1408176"/>
            <a:chExt cx="2743200" cy="3209544"/>
          </a:xfrm>
        </p:grpSpPr>
        <p:sp>
          <p:nvSpPr>
            <p:cNvPr id="23" name="Text 21"/>
            <p:cNvSpPr/>
            <p:nvPr/>
          </p:nvSpPr>
          <p:spPr>
            <a:xfrm>
              <a:off x="3200400" y="1408176"/>
              <a:ext cx="2743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📏</a:t>
              </a:r>
              <a:endParaRPr lang="en-US" sz="3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246120" y="2066544"/>
              <a:ext cx="26517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DEPTH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ESTIMATION</a:t>
              </a:r>
              <a:endParaRPr lang="en-US" sz="13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91840" y="2816352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 24"/>
            <p:cNvSpPr/>
            <p:nvPr/>
          </p:nvSpPr>
          <p:spPr>
            <a:xfrm>
              <a:off x="3410712" y="2798064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OAK-4D stereo depth sensor</a:t>
              </a:r>
              <a:endParaRPr lang="en-US" sz="9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291840" y="3191256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 26"/>
            <p:cNvSpPr/>
            <p:nvPr/>
          </p:nvSpPr>
          <p:spPr>
            <a:xfrm>
              <a:off x="3410712" y="3172968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Distance computed per detection</a:t>
              </a:r>
              <a:endParaRPr lang="en-US" sz="9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291840" y="3566160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 28"/>
            <p:cNvSpPr/>
            <p:nvPr/>
          </p:nvSpPr>
          <p:spPr>
            <a:xfrm>
              <a:off x="3410712" y="354787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GPS tracker on drone</a:t>
              </a:r>
              <a:endParaRPr lang="en-US" sz="9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291840" y="3941064"/>
              <a:ext cx="36576" cy="274320"/>
            </a:xfrm>
            <a:prstGeom prst="rect">
              <a:avLst/>
            </a:prstGeom>
            <a:solidFill>
              <a:srgbClr val="00FF88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 30"/>
            <p:cNvSpPr/>
            <p:nvPr/>
          </p:nvSpPr>
          <p:spPr>
            <a:xfrm>
              <a:off x="3410712" y="3922776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FF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absolute GPS coords per person</a:t>
              </a:r>
              <a:endParaRPr lang="en-US" sz="10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291840" y="4315968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Text 32"/>
            <p:cNvSpPr/>
            <p:nvPr/>
          </p:nvSpPr>
          <p:spPr>
            <a:xfrm>
              <a:off x="3410712" y="42976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Demo: fixed camera coords</a:t>
              </a:r>
              <a:endParaRPr lang="en-US" sz="95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6108192" y="896112"/>
            <a:ext cx="2834640" cy="4114800"/>
          </a:xfrm>
          <a:prstGeom prst="rect">
            <a:avLst/>
          </a:prstGeom>
          <a:solidFill>
            <a:srgbClr val="111D2E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6108192" y="896112"/>
            <a:ext cx="283464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199632" y="9875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grpSp>
        <p:nvGrpSpPr>
          <p:cNvPr id="52" name="Gruppo 51">
            <a:extLst>
              <a:ext uri="{FF2B5EF4-FFF2-40B4-BE49-F238E27FC236}">
                <a16:creationId xmlns:a16="http://schemas.microsoft.com/office/drawing/2014/main" id="{A53A3710-DE8A-E1E6-6230-630469E5268B}"/>
              </a:ext>
            </a:extLst>
          </p:cNvPr>
          <p:cNvGrpSpPr/>
          <p:nvPr/>
        </p:nvGrpSpPr>
        <p:grpSpPr>
          <a:xfrm>
            <a:off x="3188045" y="1408176"/>
            <a:ext cx="2743200" cy="3209544"/>
            <a:chOff x="6153912" y="1408176"/>
            <a:chExt cx="2743200" cy="3209544"/>
          </a:xfrm>
        </p:grpSpPr>
        <p:sp>
          <p:nvSpPr>
            <p:cNvPr id="38" name="Text 36"/>
            <p:cNvSpPr/>
            <p:nvPr/>
          </p:nvSpPr>
          <p:spPr>
            <a:xfrm>
              <a:off x="6153912" y="1408176"/>
              <a:ext cx="2743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🔍</a:t>
              </a:r>
              <a:endParaRPr lang="en-US" sz="3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199632" y="2066544"/>
              <a:ext cx="26517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PERSON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TRACKING</a:t>
              </a:r>
              <a:endParaRPr lang="en-US" sz="13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6245352" y="2816352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 39"/>
            <p:cNvSpPr/>
            <p:nvPr/>
          </p:nvSpPr>
          <p:spPr>
            <a:xfrm>
              <a:off x="6364224" y="2798064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Individual tracker per person</a:t>
              </a:r>
              <a:endParaRPr lang="en-US" sz="9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6245352" y="3191256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Text 41"/>
            <p:cNvSpPr/>
            <p:nvPr/>
          </p:nvSpPr>
          <p:spPr>
            <a:xfrm>
              <a:off x="6364224" y="3172968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Position sampled over time</a:t>
              </a:r>
              <a:endParaRPr lang="en-US" sz="9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245352" y="3566160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Text 43"/>
            <p:cNvSpPr/>
            <p:nvPr/>
          </p:nvSpPr>
          <p:spPr>
            <a:xfrm>
              <a:off x="6364224" y="354787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Stationary &gt; 5 seconds</a:t>
              </a:r>
              <a:endParaRPr lang="en-US" sz="9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6245352" y="3941064"/>
              <a:ext cx="36576" cy="274320"/>
            </a:xfrm>
            <a:prstGeom prst="rect">
              <a:avLst/>
            </a:prstGeom>
            <a:solidFill>
              <a:srgbClr val="FF4444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 45"/>
            <p:cNvSpPr/>
            <p:nvPr/>
          </p:nvSpPr>
          <p:spPr>
            <a:xfrm>
              <a:off x="6364224" y="3922776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flagged as STILL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6245352" y="4315968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Text 47"/>
            <p:cNvSpPr/>
            <p:nvPr/>
          </p:nvSpPr>
          <p:spPr>
            <a:xfrm>
              <a:off x="6364224" y="42976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Second urgency signal</a:t>
              </a:r>
              <a:endParaRPr lang="en-US" sz="950" dirty="0"/>
            </a:p>
          </p:txBody>
        </p:sp>
      </p:grp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7EE97D3B-D7C5-1DBD-26D3-968E1A71FC46}"/>
              </a:ext>
            </a:extLst>
          </p:cNvPr>
          <p:cNvGrpSpPr/>
          <p:nvPr/>
        </p:nvGrpSpPr>
        <p:grpSpPr>
          <a:xfrm>
            <a:off x="6166267" y="1444752"/>
            <a:ext cx="2743200" cy="3209544"/>
            <a:chOff x="246888" y="1408176"/>
            <a:chExt cx="2743200" cy="3209544"/>
          </a:xfrm>
        </p:grpSpPr>
        <p:sp>
          <p:nvSpPr>
            <p:cNvPr id="8" name="Text 6"/>
            <p:cNvSpPr/>
            <p:nvPr/>
          </p:nvSpPr>
          <p:spPr>
            <a:xfrm>
              <a:off x="246888" y="1408176"/>
              <a:ext cx="2743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📐</a:t>
              </a:r>
              <a:endParaRPr lang="en-US" sz="3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92608" y="2066544"/>
              <a:ext cx="26517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POSTURE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ANALYSIS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38328" y="2816352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2798064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Compute BBox aspect ratio</a:t>
              </a:r>
              <a:endParaRPr lang="en-US" sz="9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38328" y="3191256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 11"/>
            <p:cNvSpPr/>
            <p:nvPr/>
          </p:nvSpPr>
          <p:spPr>
            <a:xfrm>
              <a:off x="457200" y="3172968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width &gt; 1.3 × height</a:t>
              </a:r>
              <a:endParaRPr lang="en-US" sz="9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38328" y="3566160"/>
              <a:ext cx="36576" cy="274320"/>
            </a:xfrm>
            <a:prstGeom prst="rect">
              <a:avLst/>
            </a:prstGeom>
            <a:solidFill>
              <a:srgbClr val="FFB800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 13"/>
            <p:cNvSpPr/>
            <p:nvPr/>
          </p:nvSpPr>
          <p:spPr>
            <a:xfrm>
              <a:off x="457200" y="354787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B8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person flagged as FALLEN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38328" y="3941064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 15"/>
            <p:cNvSpPr/>
            <p:nvPr/>
          </p:nvSpPr>
          <p:spPr>
            <a:xfrm>
              <a:off x="457200" y="3922776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Indicates injury or unconsciousness</a:t>
              </a:r>
              <a:endParaRPr lang="en-US" sz="9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38328" y="4315968"/>
              <a:ext cx="36576" cy="274320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42976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Raises intervention priority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/  MISSION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576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OPERATOR INTERFACE</a:t>
            </a:r>
            <a:endParaRPr lang="en-US" sz="900" dirty="0"/>
          </a:p>
        </p:txBody>
      </p:sp>
      <p:pic>
        <p:nvPicPr>
          <p:cNvPr id="5" name="Image 0" descr="/mnt/user-data/uploads/1778400184236_WhatsApp_Image_2026-05-10_at_10_02_4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868680"/>
            <a:ext cx="56692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868680"/>
            <a:ext cx="2907792" cy="3383280"/>
          </a:xfrm>
          <a:prstGeom prst="rect">
            <a:avLst/>
          </a:prstGeom>
          <a:solidFill>
            <a:srgbClr val="111D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172200" y="960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12648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37960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Detection Feed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37960" y="1527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detected persons, confidence, distance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26480" y="19019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37960" y="19202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Indicators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37960" y="21488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(green) / STATIONARY (red)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26480" y="25237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37960" y="25420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Map View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37960" y="27706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Geolocated targets on interactive map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26480" y="31455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37960" y="31638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Updates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37960" y="33924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refresh per detection cycle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26480" y="376732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37960" y="37856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 Control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37960" y="4014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simultaneous drone streams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01168" y="4343400"/>
            <a:ext cx="2103120" cy="658368"/>
          </a:xfrm>
          <a:prstGeom prst="rect">
            <a:avLst/>
          </a:prstGeom>
          <a:solidFill>
            <a:srgbClr val="111D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246888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≥65%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246888" y="4727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GATE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395728" y="4343400"/>
            <a:ext cx="2103120" cy="658368"/>
          </a:xfrm>
          <a:prstGeom prst="rect">
            <a:avLst/>
          </a:prstGeom>
          <a:solidFill>
            <a:srgbClr val="111D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2441448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2441448" y="4727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STILL THRESHOLD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590288" y="4343400"/>
            <a:ext cx="2103120" cy="658368"/>
          </a:xfrm>
          <a:prstGeom prst="rect">
            <a:avLst/>
          </a:prstGeom>
          <a:solidFill>
            <a:srgbClr val="111D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4636008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4636008" y="4727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STREAM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784848" y="4343400"/>
            <a:ext cx="2103120" cy="658368"/>
          </a:xfrm>
          <a:prstGeom prst="rect">
            <a:avLst/>
          </a:prstGeom>
          <a:solidFill>
            <a:srgbClr val="111D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6830568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830568" y="4727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Presentazione su schermo (16:9)</PresentationFormat>
  <Paragraphs>146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Marco Abbadessa</cp:lastModifiedBy>
  <cp:revision>4</cp:revision>
  <dcterms:created xsi:type="dcterms:W3CDTF">2026-05-10T08:06:37Z</dcterms:created>
  <dcterms:modified xsi:type="dcterms:W3CDTF">2026-05-10T08:53:47Z</dcterms:modified>
</cp:coreProperties>
</file>